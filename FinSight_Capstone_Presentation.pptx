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82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907A7-FE41-4EBE-AB39-5116668C3B54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3EA1E-7F1E-4288-8C70-03ECB41DCA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03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3EA1E-7F1E-4288-8C70-03ECB41DCA5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050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bg_cus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97280" y="1280160"/>
            <a:ext cx="4114800" cy="411480"/>
          </a:xfrm>
          <a:prstGeom prst="roundRect">
            <a:avLst/>
          </a:prstGeom>
          <a:solidFill>
            <a:srgbClr val="142D5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rPr lang="en-IN" sz="1100" b="1" dirty="0">
                <a:solidFill>
                  <a:srgbClr val="38BDF8"/>
                </a:solidFill>
                <a:latin typeface="Segoe UI"/>
              </a:rPr>
              <a:t>FULL STACK DATA ENGINEER — HADOOP &amp; SPARK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66647" y="2295379"/>
            <a:ext cx="100584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Capstone Project - </a:t>
            </a:r>
            <a:r>
              <a:rPr dirty="0" err="1"/>
              <a:t>FinSight</a:t>
            </a:r>
            <a:endParaRPr dirty="0"/>
          </a:p>
          <a:p>
            <a:pPr>
              <a:spcAft>
                <a:spcPts val="2800"/>
              </a:spcAft>
              <a:defRPr sz="1700">
                <a:solidFill>
                  <a:srgbClr val="CBD5E1"/>
                </a:solidFill>
                <a:latin typeface="Segoe UI"/>
              </a:defRPr>
            </a:pPr>
            <a:r>
              <a:rPr dirty="0"/>
              <a:t>A Scalable Big Data Architecture for </a:t>
            </a:r>
            <a:r>
              <a:rPr dirty="0" err="1"/>
              <a:t>NovaCrest</a:t>
            </a:r>
            <a:r>
              <a:rPr dirty="0"/>
              <a:t> Bank Powered by Apache Hadoop &amp; Spark</a:t>
            </a:r>
          </a:p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lang="en-US" dirty="0"/>
              <a:t>By – Shaik Yaseen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bg_cus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ROADMAP &amp;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737360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01   </a:t>
            </a:r>
            <a:r>
              <a:rPr sz="1200">
                <a:solidFill>
                  <a:srgbClr val="F1F5F9"/>
                </a:solidFill>
                <a:latin typeface="Segoe UI"/>
              </a:rPr>
              <a:t>The Business Problem: Why NovaCrest Needed FinSight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606039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02   </a:t>
            </a:r>
            <a:r>
              <a:rPr sz="1200">
                <a:solidFill>
                  <a:srgbClr val="F1F5F9"/>
                </a:solidFill>
                <a:latin typeface="Segoe UI"/>
              </a:rPr>
              <a:t>Solution Architecture: Decoupling Streaming &amp;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474720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03   </a:t>
            </a:r>
            <a:r>
              <a:rPr sz="1200">
                <a:solidFill>
                  <a:srgbClr val="F1F5F9"/>
                </a:solidFill>
                <a:latin typeface="Segoe UI"/>
              </a:rPr>
              <a:t>End-to-End System Flowchart &amp;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43400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04   </a:t>
            </a:r>
            <a:r>
              <a:rPr sz="1200">
                <a:solidFill>
                  <a:srgbClr val="F1F5F9"/>
                </a:solidFill>
                <a:latin typeface="Segoe UI"/>
              </a:rPr>
              <a:t>Data Ingestion: High-Throughput Kafka &amp; HDFS Lake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212079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05   </a:t>
            </a:r>
            <a:r>
              <a:rPr sz="1200">
                <a:solidFill>
                  <a:srgbClr val="F1F5F9"/>
                </a:solidFill>
                <a:latin typeface="Segoe UI"/>
              </a:rPr>
              <a:t>Real-Time Detection: Stopping Fraud &amp; Churn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06   </a:t>
            </a:r>
            <a:r>
              <a:rPr sz="1200">
                <a:solidFill>
                  <a:srgbClr val="F1F5F9"/>
                </a:solidFill>
                <a:latin typeface="Segoe UI"/>
              </a:rPr>
              <a:t>Nightly Batch Processing: Spark Core &amp; Hive Mart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39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07   </a:t>
            </a:r>
            <a:r>
              <a:rPr sz="1200">
                <a:solidFill>
                  <a:srgbClr val="F1F5F9"/>
                </a:solidFill>
                <a:latin typeface="Segoe UI"/>
              </a:rPr>
              <a:t>Customer 360 &amp; Money Mule Networks: Mongo &amp; Neo4j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08   </a:t>
            </a:r>
            <a:r>
              <a:rPr sz="1200">
                <a:solidFill>
                  <a:srgbClr val="F1F5F9"/>
                </a:solidFill>
                <a:latin typeface="Segoe UI"/>
              </a:rPr>
              <a:t>Visual Data Blending: Alteryx Risk Scoring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343400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09   </a:t>
            </a:r>
            <a:r>
              <a:rPr sz="1200">
                <a:solidFill>
                  <a:srgbClr val="F1F5F9"/>
                </a:solidFill>
                <a:latin typeface="Segoe UI"/>
              </a:rPr>
              <a:t>Executive Visual Analytics: 3 Power BI Dashboards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212079"/>
            <a:ext cx="4846320" cy="68580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1E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/>
            <a:r>
              <a:rPr sz="1400" b="1">
                <a:solidFill>
                  <a:srgbClr val="38BDF8"/>
                </a:solidFill>
                <a:latin typeface="Segoe UI"/>
              </a:rPr>
              <a:t>10   </a:t>
            </a:r>
            <a:r>
              <a:rPr sz="1200">
                <a:solidFill>
                  <a:srgbClr val="F1F5F9"/>
                </a:solidFill>
                <a:latin typeface="Segoe UI"/>
              </a:rPr>
              <a:t>Key Analytical Discoveries &amp; Measurable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1. EXECUTIVE CONTEXT &amp; PAIN POINTS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The Challenge: Why NovaCrest Bank Needed FinSight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About NovaCrest Bank</a:t>
            </a:r>
          </a:p>
          <a:p>
            <a:pPr>
              <a:spcAft>
                <a:spcPts val="1400"/>
              </a:spcAft>
              <a:defRPr sz="1250">
                <a:solidFill>
                  <a:srgbClr val="1E293B"/>
                </a:solidFill>
                <a:latin typeface="Segoe UI"/>
              </a:defRPr>
            </a:pPr>
            <a:r>
              <a:t>NovaCrest is a rapidly growing full-service bank operating in 38 US states, serving 4.2 Million personal customers and 86,000 commercial accounts.</a:t>
            </a:r>
            <a:br/>
            <a:br/>
            <a:r>
              <a:t>The bank processes over 2,000,000 transactions daily across mobile, online, ATM, and branch networks. Rapid scale created critical operational blind spots that traditional databases could no longer handle.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  <a:latin typeface="Segoe UI"/>
              </a:defRPr>
            </a:pPr>
            <a:r>
              <a:t>Core Project Objective: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Build and deploy an enterprise-grade Big Data platform combining Apache Hadoop, Spark, NoSQL, Neo4j, Alteryx, and Power BI to stop fraud instantly and protect customer retention.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Three Critical Bottlenecks Faced by the Bank</a:t>
            </a:r>
          </a:p>
          <a:p>
            <a:pPr>
              <a:spcAft>
                <a:spcPts val="200"/>
              </a:spcAft>
              <a:defRPr sz="1300" b="1">
                <a:solidFill>
                  <a:srgbClr val="B91C1C"/>
                </a:solidFill>
                <a:latin typeface="Segoe UI"/>
              </a:defRPr>
            </a:pPr>
            <a:r>
              <a:t>1. The 24-Hour Fraud Delay (T+24h Lag)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Legacy fraud detection ran overnight batch scripts. By the time an unauthorized transfer was flagged, stolen funds had already been cashed out and settled.</a:t>
            </a:r>
          </a:p>
          <a:p>
            <a:pPr>
              <a:spcAft>
                <a:spcPts val="200"/>
              </a:spcAft>
              <a:defRPr sz="1300" b="1">
                <a:solidFill>
                  <a:srgbClr val="B91C1C"/>
                </a:solidFill>
                <a:latin typeface="Segoe UI"/>
              </a:defRPr>
            </a:pPr>
            <a:r>
              <a:t>2. Disconnected Customer Records (Data Silos)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Transaction logs lived separately from customer KYC profiles. Branch and fraud managers had no single unified view to spot flight-risk customers before they closed accounts.</a:t>
            </a:r>
          </a:p>
          <a:p>
            <a:pPr>
              <a:spcAft>
                <a:spcPts val="200"/>
              </a:spcAft>
              <a:defRPr sz="1300" b="1">
                <a:solidFill>
                  <a:srgbClr val="B91C1C"/>
                </a:solidFill>
                <a:latin typeface="Segoe UI"/>
              </a:defRPr>
            </a:pPr>
            <a:r>
              <a:t>3. Painful 18-Day Regulatory Audits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Compiling anti-money laundering (AML) compliance reports required manual SQL queries across fragmented databases, taking up to 18 days and risking severe fines.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2. STRATEGIC ARCHITECTURE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Our Solution: Decoupling Real-Time Speed from Deep Batch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spcAft>
                <a:spcPts val="200"/>
              </a:spcAft>
              <a:defRPr sz="1350" b="1">
                <a:solidFill>
                  <a:srgbClr val="4338CA"/>
                </a:solidFill>
                <a:latin typeface="Segoe UI"/>
              </a:defRPr>
            </a:pPr>
            <a:r>
              <a:t>💡  Core Architectural Principle: Decoupled Multi-Tier Lambda Architecture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High-velocity financial event streams require sub-second heuristic filtering, while multi-month risk modeling and compliance require heavy distributed computing. Separating these tiers guarantees zero latency spikes during peak transaction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⚡ 1. Real-Time Streaming Tier</a:t>
            </a:r>
          </a:p>
          <a:p>
            <a:pPr>
              <a:spcAft>
                <a:spcPts val="400"/>
              </a:spcAft>
              <a:defRPr sz="1150" b="1">
                <a:solidFill>
                  <a:srgbClr val="0284C7"/>
                </a:solidFill>
                <a:latin typeface="Segoe UI"/>
              </a:defRPr>
            </a:pPr>
            <a:r>
              <a:t>Apache Kafka + Spark Structured Streaming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Consumes high-throughput live transactions, runs stateful micro-batch heuristic rules, and intercepts fraudulent transfers within 5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1460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📊 2. Distributed Batch Tier</a:t>
            </a:r>
          </a:p>
          <a:p>
            <a:pPr>
              <a:spcAft>
                <a:spcPts val="400"/>
              </a:spcAft>
              <a:defRPr sz="1150" b="1">
                <a:solidFill>
                  <a:srgbClr val="0284C7"/>
                </a:solidFill>
                <a:latin typeface="Segoe UI"/>
              </a:defRPr>
            </a:pPr>
            <a:r>
              <a:t>Apache Hadoop HDFS + Spark Core &amp; SQL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Performs scheduled nightly enterprise rollups across 31 days (744 simulation steps), calculating rolling customer risk scores and CLV.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🗄️ 3. Specialized Databases</a:t>
            </a:r>
          </a:p>
          <a:p>
            <a:pPr>
              <a:spcAft>
                <a:spcPts val="400"/>
              </a:spcAft>
              <a:defRPr sz="11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Hive Warehouse + MongoDB + Neo4j Graph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Uses the best database for each task: Hive for SQL compliance queries, MongoDB for flexible KYC customer profiles, and Neo4j for money mule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48056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📈 4. Visual Blending &amp; BI Front-End</a:t>
            </a:r>
          </a:p>
          <a:p>
            <a:pPr>
              <a:spcAft>
                <a:spcPts val="400"/>
              </a:spcAft>
              <a:defRPr sz="1150" b="1">
                <a:solidFill>
                  <a:srgbClr val="0284C7"/>
                </a:solidFill>
                <a:latin typeface="Segoe UI"/>
              </a:defRPr>
            </a:pPr>
            <a:r>
              <a:t>Alteryx Designer Cloud + Microsoft Power BI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Empowers business analysts to visually blend fraud and churn features without writing code, feeding 3 interactive executive Power BI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SECTION 5 · PROPOSED SOLUTION</a:t>
            </a:r>
          </a:p>
          <a:p>
            <a:pPr>
              <a:defRPr sz="3000" b="1">
                <a:solidFill>
                  <a:srgbClr val="0F172A"/>
                </a:solidFill>
                <a:latin typeface="Georgia"/>
              </a:defRPr>
            </a:pPr>
            <a:r>
              <a:t>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66420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481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874520"/>
            <a:ext cx="1444752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01 INGEST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Apache Kafka</a:t>
            </a:r>
          </a:p>
          <a:p>
            <a:pPr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3 topics, producer throttled to 1,000 msg/sec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691640"/>
            <a:ext cx="15544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33472" y="1737360"/>
            <a:ext cx="1481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1874520"/>
            <a:ext cx="1444752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02 LAND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HDFS</a:t>
            </a:r>
          </a:p>
          <a:p>
            <a:pPr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Parquet data lake partitioned by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91640"/>
            <a:ext cx="166420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43983" y="1737360"/>
            <a:ext cx="1481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874520"/>
            <a:ext cx="1444752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03 PROCESS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Spark</a:t>
            </a:r>
          </a:p>
          <a:p>
            <a:pPr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Streaming, Core and SQL across six jobs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691640"/>
            <a:ext cx="166420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54495" y="1737360"/>
            <a:ext cx="1481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2783" y="1874520"/>
            <a:ext cx="1444752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04 SERVE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Hive · MongoDB · Neo4j</a:t>
            </a:r>
          </a:p>
          <a:p>
            <a:pPr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Warehouse, document store, property 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691640"/>
            <a:ext cx="166420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5008" y="1737360"/>
            <a:ext cx="1481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1874520"/>
            <a:ext cx="1444752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05 BLEND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Alteryx Designer</a:t>
            </a:r>
          </a:p>
          <a:p>
            <a:pPr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Two workflows, feature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691640"/>
            <a:ext cx="1664208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75520" y="1737360"/>
            <a:ext cx="1481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93808" y="1874520"/>
            <a:ext cx="1444752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D97706"/>
                </a:solidFill>
                <a:latin typeface="Segoe UI"/>
              </a:defRPr>
            </a:pPr>
            <a:r>
              <a:t>06 REPORT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Power BI</a:t>
            </a:r>
          </a:p>
          <a:p>
            <a:pPr>
              <a:spcAft>
                <a:spcPts val="0"/>
              </a:spcAft>
              <a:defRPr sz="1050">
                <a:solidFill>
                  <a:srgbClr val="64748B"/>
                </a:solidFill>
                <a:latin typeface="Segoe UI"/>
              </a:defRPr>
            </a:pPr>
            <a:r>
              <a:t>Three dashboard pages for three audiences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4389120"/>
            <a:ext cx="512064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Segoe UI"/>
              </a:defRPr>
            </a:pPr>
            <a:r>
              <a:rPr dirty="0"/>
              <a:t>Transaction records stream through Kafka into the HDFS lake, then fan out to a Hive warehouse, a MongoDB profile store and a Neo4j fraud graph.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389120"/>
            <a:ext cx="521208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Segoe UI"/>
              </a:defRPr>
            </a:pPr>
            <a:r>
              <a:rPr dirty="0"/>
              <a:t>Alteryx blends those outputs into two clean analytical datasets published directly to Power BI for executive reporting.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4. INGESTION &amp; STORAGE STRATEGY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Moving &amp; Storing Big Data: Apache Kafka &amp; HDFS Data Lake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Ingestion Backbone: Apache Kafka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Decoupled real-time message broker acting as an event highway: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284C7"/>
                </a:solidFill>
              </a:rPr>
              <a:t>✔ High-Throughput Producer: </a:t>
            </a:r>
            <a:r>
              <a:rPr sz="1150">
                <a:solidFill>
                  <a:srgbClr val="1E293B"/>
                </a:solidFill>
              </a:rPr>
              <a:t>Custom Python streaming producer pushing financial events at 1,000 messages/sec.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284C7"/>
                </a:solidFill>
              </a:rPr>
              <a:t>✔ Dedicated Event Topics: </a:t>
            </a:r>
            <a:r>
              <a:rPr sz="1150">
                <a:solidFill>
                  <a:srgbClr val="1E293B"/>
                </a:solidFill>
              </a:rPr>
              <a:t>Decoupled into `txn-stream` (transaction fraud heuristics) and `txn-churn` (user interaction events).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284C7"/>
                </a:solidFill>
              </a:rPr>
              <a:t>✔ Shock Absorber for Spikes: </a:t>
            </a:r>
            <a:r>
              <a:rPr sz="1150">
                <a:solidFill>
                  <a:srgbClr val="1E293B"/>
                </a:solidFill>
              </a:rPr>
              <a:t>Prevents downstream database crashes during heavy midday payment rushes.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284C7"/>
                </a:solidFill>
              </a:rPr>
              <a:t>✔ Zero-Data-Loss Reliability: </a:t>
            </a:r>
            <a:r>
              <a:rPr sz="1150">
                <a:solidFill>
                  <a:srgbClr val="1E293B"/>
                </a:solidFill>
              </a:rPr>
              <a:t>Built-in replication across Kafka broker partitions ensures no transaction is ever dropped.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Distributed Data Lake: Apache HDFS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Scalable, fault-tolerant cluster storage rooted at /finsight/processed/: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284C7"/>
                </a:solidFill>
              </a:rPr>
              <a:t>Columnar Parquet Format: </a:t>
            </a:r>
            <a:r>
              <a:rPr sz="1100">
                <a:solidFill>
                  <a:srgbClr val="1E293B"/>
                </a:solidFill>
              </a:rPr>
              <a:t>Optimized with Snappy compression, slashing raw CSV disk consumption by over 70%.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284C7"/>
                </a:solidFill>
              </a:rPr>
              <a:t>Partition Pruning: </a:t>
            </a:r>
            <a:r>
              <a:rPr sz="1100">
                <a:solidFill>
                  <a:srgbClr val="1E293B"/>
                </a:solidFill>
              </a:rPr>
              <a:t>Partitioned by simulation step (`step=1..744`), enabling Spark to scan only target time slices.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284C7"/>
                </a:solidFill>
              </a:rPr>
              <a:t>Verified Lake Directories: </a:t>
            </a:r>
            <a:r>
              <a:rPr sz="1100">
                <a:solidFill>
                  <a:srgbClr val="1E293B"/>
                </a:solidFill>
              </a:rPr>
              <a:t>Organized into clean departmental folders for easy enterprise discovery: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D97706"/>
                </a:solidFill>
              </a:rPr>
              <a:t>  • /flagged_transactions: </a:t>
            </a:r>
            <a:r>
              <a:rPr sz="1100">
                <a:solidFill>
                  <a:srgbClr val="1E293B"/>
                </a:solidFill>
              </a:rPr>
              <a:t>Live isolated high-risk transaction anomalies.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D97706"/>
                </a:solidFill>
              </a:rPr>
              <a:t>  • /churn_alerts: </a:t>
            </a:r>
            <a:r>
              <a:rPr sz="1100">
                <a:solidFill>
                  <a:srgbClr val="1E293B"/>
                </a:solidFill>
              </a:rPr>
              <a:t>Real-time scored customer flight-risk alerts.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D97706"/>
                </a:solidFill>
              </a:rPr>
              <a:t>  • /daily_summary: </a:t>
            </a:r>
            <a:r>
              <a:rPr sz="1100">
                <a:solidFill>
                  <a:srgbClr val="1E293B"/>
                </a:solidFill>
              </a:rPr>
              <a:t>Step-by-step transaction volume aggregates.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D97706"/>
                </a:solidFill>
              </a:rPr>
              <a:t>  • /compliance_summary: </a:t>
            </a:r>
            <a:r>
              <a:rPr sz="1100">
                <a:solidFill>
                  <a:srgbClr val="1E293B"/>
                </a:solidFill>
              </a:rPr>
              <a:t>Customer-level historical fraud ratios.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5. REAL-TIME STREAM ENGINE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Catching Fraud &amp; Churn Live: PySpark Structured Streaming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⚡ Real-Time Fraud Detection Engine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✔ Live Stream Ingestion: </a:t>
            </a:r>
            <a:r>
              <a:rPr sz="1150">
                <a:solidFill>
                  <a:srgbClr val="1E293B"/>
                </a:solidFill>
              </a:rPr>
              <a:t>Continuously ingests live transaction payloads from Kafka topic `txn-stream`.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✔ 5-Second Micro-Batches: </a:t>
            </a:r>
            <a:r>
              <a:rPr sz="1150">
                <a:solidFill>
                  <a:srgbClr val="1E293B"/>
                </a:solidFill>
              </a:rPr>
              <a:t>Evaluates stateful heuristic rules with checkpointing for fault-tolerant processing.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✔ Multi-Condition Heuristics: </a:t>
            </a:r>
            <a:r>
              <a:rPr sz="1150">
                <a:solidFill>
                  <a:srgbClr val="1E293B"/>
                </a:solidFill>
              </a:rPr>
              <a:t>Flags high-dollar amounts (&gt; $200k), high-risk payment rails (`TRANSFER` and `CASH_OUT`), and balance wipeout anomalies.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✔ Outcome: </a:t>
            </a:r>
            <a:r>
              <a:rPr sz="1150">
                <a:solidFill>
                  <a:srgbClr val="1E293B"/>
                </a:solidFill>
              </a:rPr>
              <a:t>Automatically intercepted 5,600 confirmed fraud transactions and persisted them directly to HDFS before funds settled.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📉 Customer Churn &amp; Inactivity Pipeline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</a:rPr>
              <a:t>✔ Behavioral Ingestion: </a:t>
            </a:r>
            <a:r>
              <a:rPr sz="1150">
                <a:solidFill>
                  <a:srgbClr val="1E293B"/>
                </a:solidFill>
              </a:rPr>
              <a:t>Consumes customer interaction signals and account events from Kafka topic `txn-churn`.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</a:rPr>
              <a:t>✔ Balance Decay Analysis: </a:t>
            </a:r>
            <a:r>
              <a:rPr sz="1150">
                <a:solidFill>
                  <a:srgbClr val="1E293B"/>
                </a:solidFill>
              </a:rPr>
              <a:t>Applies tumbling window logic to track rapid account liquidation (`oldbalance &gt; $10k` drained to zero).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</a:rPr>
              <a:t>✔ Proactive Retention: </a:t>
            </a:r>
            <a:r>
              <a:rPr sz="1150">
                <a:solidFill>
                  <a:srgbClr val="1E293B"/>
                </a:solidFill>
              </a:rPr>
              <a:t>Detects flight-risk customers days before they formally initiate account closure.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</a:rPr>
              <a:t>✔ Outcome: </a:t>
            </a:r>
            <a:r>
              <a:rPr sz="1150">
                <a:solidFill>
                  <a:srgbClr val="1E293B"/>
                </a:solidFill>
              </a:rPr>
              <a:t>Streamed 2,370,000 scored customer alerts to `/finsight/processed/churn_alerts/` for immediate relationship manager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6. BATCH PIPELINES &amp; DATA WAREHOUSING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Nightly Big Data Aggregations: Apache Spark Core &amp; Hive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Nightly Batch Processing (Spark Core)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▪ Full Simulation Scan: </a:t>
            </a:r>
            <a:r>
              <a:rPr sz="1150">
                <a:solidFill>
                  <a:srgbClr val="1E293B"/>
                </a:solidFill>
              </a:rPr>
              <a:t>Automated batch pipeline reading transaction partitions across all 744 simulation steps (31 days of banking).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▪ Parallel MapReduce Computations: </a:t>
            </a:r>
            <a:r>
              <a:rPr sz="1150">
                <a:solidFill>
                  <a:srgbClr val="1E293B"/>
                </a:solidFill>
              </a:rPr>
              <a:t>Calculates step-by-step transaction volumes, average amounts, and fraud ratios across worker nodes.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▪ Composite 7-Day Risk Scoring: </a:t>
            </a:r>
            <a:r>
              <a:rPr sz="1150">
                <a:solidFill>
                  <a:srgbClr val="1E293B"/>
                </a:solidFill>
              </a:rPr>
              <a:t>Computes rolling multi-factor customer risk scores (0-100) factoring in velocity and nocturnal activity.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▪ Published Data Lake Summary: </a:t>
            </a:r>
            <a:r>
              <a:rPr sz="1150">
                <a:solidFill>
                  <a:srgbClr val="1E293B"/>
                </a:solidFill>
              </a:rPr>
              <a:t>Persists clean rollups directly to `/finsight/processed/daily_summary/` for instant analytical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Enterprise Compliance Mart (Hive &amp; Spark SQL)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</a:rPr>
              <a:t>▪ External Hive Tables: </a:t>
            </a:r>
            <a:r>
              <a:rPr sz="1150">
                <a:solidFill>
                  <a:srgbClr val="1E293B"/>
                </a:solidFill>
              </a:rPr>
              <a:t>Created schema-on-read external Hive tables mapped directly to HDFS storage directories.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</a:rPr>
              <a:t>▪ Customer-Level Entity Rollups: </a:t>
            </a:r>
            <a:r>
              <a:rPr sz="1150">
                <a:solidFill>
                  <a:srgbClr val="1E293B"/>
                </a:solidFill>
              </a:rPr>
              <a:t>Pre-calculates total transactions, total dollar volume, confirmed fraud count, and fraud volume per customer.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</a:rPr>
              <a:t>▪ Engineered Fraud Rate Feature: </a:t>
            </a:r>
            <a:r>
              <a:rPr sz="1150">
                <a:solidFill>
                  <a:srgbClr val="1E293B"/>
                </a:solidFill>
              </a:rPr>
              <a:t>Calculates `fraud_rate_pct` as a benchmark risk feature for downstream machine learning and audit triage.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97706"/>
                </a:solidFill>
              </a:rPr>
              <a:t>▪ Audit-Ready Views: </a:t>
            </a:r>
            <a:r>
              <a:rPr sz="1150">
                <a:solidFill>
                  <a:srgbClr val="1E293B"/>
                </a:solidFill>
              </a:rPr>
              <a:t>Replaces slow ad-hoc SQL with instant, zero-delay compliance views for regulatory inspectors.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7. SPECIALIZED DATABASES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Customer Profiles &amp; Money Mule Networks: MongoDB &amp; Neo4j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Customer Document Store: MongoDB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✔ Customer 360 JSON Profiles: </a:t>
            </a:r>
            <a:r>
              <a:rPr sz="1150">
                <a:solidFill>
                  <a:srgbClr val="1E293B"/>
                </a:solidFill>
              </a:rPr>
              <a:t>Stores 10,000 semi-structured customer records including credit score, salary, product holdings, and KYC tier.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✔ Dynamic Schema Evolution: </a:t>
            </a:r>
            <a:r>
              <a:rPr sz="1150">
                <a:solidFill>
                  <a:srgbClr val="1E293B"/>
                </a:solidFill>
              </a:rPr>
              <a:t>Accommodates frequent attribute additions (e.g. churn probabilities) without costly relational database migrations.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✔ Fast Key-Value Retrieval: </a:t>
            </a:r>
            <a:r>
              <a:rPr sz="1150">
                <a:solidFill>
                  <a:srgbClr val="1E293B"/>
                </a:solidFill>
              </a:rPr>
              <a:t>Allows fraud analysts to fetch complete customer dossiers in milliseconds during active investigations.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284C7"/>
                </a:solidFill>
              </a:rPr>
              <a:t>✔ Cross-Tier Enrichment: </a:t>
            </a:r>
            <a:r>
              <a:rPr sz="1150">
                <a:solidFill>
                  <a:srgbClr val="1E293B"/>
                </a:solidFill>
              </a:rPr>
              <a:t>Enriches flat transaction rows with rich customer context for advanced risk segmentation.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Graph Network &amp; Mule Ring Analysis: Neo4j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</a:rPr>
              <a:t>✔ Graph Modeling: </a:t>
            </a:r>
            <a:r>
              <a:rPr sz="1150">
                <a:solidFill>
                  <a:srgbClr val="1E293B"/>
                </a:solidFill>
              </a:rPr>
              <a:t>Ingested accounts as `:Customer` nodes and financial transactions as directed `[:TRANSACTED_WITH]` edges.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</a:rPr>
              <a:t>✔ Exposing Hidden Laundering Chains: </a:t>
            </a:r>
            <a:r>
              <a:rPr sz="1150">
                <a:solidFill>
                  <a:srgbClr val="1E293B"/>
                </a:solidFill>
              </a:rPr>
              <a:t>Standard SQL queries only see single rows. Neo4j graph traversal uncovers multi-hop laundering rings:</a:t>
            </a:r>
          </a:p>
          <a:p>
            <a:pPr>
              <a:spcBef>
                <a:spcPts val="5800"/>
              </a:spcBef>
              <a:defRPr sz="1150">
                <a:solidFill>
                  <a:srgbClr val="1E293B"/>
                </a:solidFill>
                <a:latin typeface="Segoe UI"/>
              </a:defRPr>
            </a:pPr>
            <a:r>
              <a:t>✔ Pinpoints illicit bridge accounts routing stolen funds across disparate clusters that avoid traditional threshold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566160"/>
            <a:ext cx="466344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91C1C"/>
                </a:solidFill>
                <a:latin typeface="Consolas"/>
              </a:defRPr>
            </a:pPr>
            <a:r>
              <a:t>(Victim) ──TRANSFER──&gt; (Mule) ──CASH_OUT──&gt; (Beneficiary)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8.1 · VISUAL DATA BLENDING (ALTERYX DESIGNER)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Workflow 1 — Customer Risk Blend Engine (customer_risk_blend.xlsx)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300"/>
              </a:spcAft>
              <a:defRPr sz="1150" b="1">
                <a:solidFill>
                  <a:srgbClr val="0284C7"/>
                </a:solidFill>
                <a:latin typeface="Segoe UI"/>
              </a:defRPr>
            </a:pPr>
            <a:r>
              <a:t>📊 6.35M Spark SQL Fraud Records In  |  10,000 MongoDB Profiles Joined  |  Target: customer_risk_blend.xlsx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Blend Steps: Inner join on customerId after Select tools enforce strict datatypes. Recomputes dynamic customer risk.</a:t>
            </a:r>
            <a:br/>
            <a:r>
              <a:t>• Formula:  composite_risk_score = (fraud_rate_pct × 0.6) + (churn_probability × 0.4)   ➔  Published for audit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nal_Workflow -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1054577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815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8.2 · VISUAL DATA BLENDING (ALTERYX DESIGNER)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Workflow 2 — 7-Day Operational Transaction Summary (transaction_summary.csv)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3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📈 2,674 Daily Summary Rows In  |  599 Analytical Rows Out  |  Scope: First Operational Week (1 ≤ step ≤ 168)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• Pipeline Steps: Filter tool isolates initial 7 days; Summarize groups by type and step across volume, fraud count &amp; monetary sums.</a:t>
            </a:r>
            <a:br/>
            <a:r>
              <a:t>• Formula:  avg_transaction_amount = IIF(count == 0, 0, volume / count)   ➔  Directly feeds executive Power BI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nal_Workflow -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1054577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15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89920" cy="5411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rPr dirty="0"/>
              <a:t>9. BUSINESS INTELLIGENCE: DASHBOARD 1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rPr lang="en-US" dirty="0"/>
              <a:t> </a:t>
            </a:r>
            <a:r>
              <a:rPr dirty="0"/>
              <a:t>Fraud Alert Board (Security Operations Cockpit)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42575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rPr dirty="0"/>
              <a:t>Primary Audience: Fraud Investigation &amp; Security Operations Desk  |  Source: </a:t>
            </a:r>
            <a:r>
              <a:rPr dirty="0" err="1"/>
              <a:t>txn</a:t>
            </a:r>
            <a:r>
              <a:rPr dirty="0"/>
              <a:t>-stream + Spark Streaming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rPr dirty="0"/>
              <a:t>• Features 7-day hourly attack timelines, fraud rate KPI cards, rail distribution (TRANSFER vs CASH_OUT), and live feed indicators.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21944"/>
            <a:ext cx="10728655" cy="4870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-1  Fraud Alert 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19384"/>
            <a:ext cx="10545775" cy="46814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9. BUSINESS INTELLIGENCE: DASHBOARD 2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Customer 360 &amp; Retention View (Portfolio Risk Management)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t>Primary Audience: Relationship Managers &amp; Customer Retention Team  |  Source: MongoDB + Spark CLV + Alteryx Blend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• Categorizes 10,000 customers into a four-tier risk matrix (Low, Medium, High, Critical) combining fraud rate and churn probability.</a:t>
            </a:r>
            <a:br/>
            <a:r>
              <a:t>• Cross-references unverified KYC accounts against elevated risk scores to generate prioritized compliance queues and retention action lists.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28655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-2 Customer 360 (Portfolio View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1054577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9. BUSINESS INTELLIGENCE: DASHBOARD 3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Risk &amp; Compliance Report (Audit &amp; AML Regulatory Tracking)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60272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D97706"/>
                </a:solidFill>
                <a:latin typeface="Segoe UI"/>
              </a:defRPr>
            </a:pPr>
            <a:r>
              <a:rPr dirty="0"/>
              <a:t>Primary Audience: Compliance Officers, Risk Directors &amp; Internal Auditors  |  Source: Hive Summary Mart + Spark SQL</a:t>
            </a:r>
          </a:p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rPr dirty="0"/>
              <a:t>• Automates audit reporting by aggregating 6.36M transactions ($11.4 Trillion volume) into instant executive compliance summaries.</a:t>
            </a:r>
            <a:br>
              <a:rPr dirty="0"/>
            </a:br>
            <a:r>
              <a:rPr dirty="0"/>
              <a:t>• Tracks last 7 days fraud trend, and AML high-value transaction threshold breaches.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28655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-3 Risk and Compliance 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1054577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10. KEY DISCOVERIES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What the Big Data Revealed: 3 Critical Business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tlCol="0" anchor="ctr"/>
          <a:lstStyle/>
          <a:p>
            <a:pPr algn="ctr"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1. 100% of Fraud on Only 2 Rails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Every single fraudulent transaction occurred in TRANSFER or CASH_OUT.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Zero fraud in regular card payments (PAYMENT), deposits (CASH_IN), or debits (DEBIT).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Business Win: Protect transfers heavily with OTP/biometrics without slowing down regular retail shoppers.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64592" cy="155448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tlCol="0" anchor="ctr"/>
          <a:lstStyle/>
          <a:p>
            <a:pPr algn="ctr"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Midnight Attack Surges </a:t>
            </a:r>
            <a:r>
              <a:rPr lang="en-US" dirty="0"/>
              <a:t>(12 AM – 4 AM)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rPr lang="en-US" dirty="0"/>
              <a:t>• Fraudulent activity peaked heavily between midnight and 4:00 AM (off-peak hours).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• Criminals deliberately attack at night when branch staff and analysts are offline.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rPr dirty="0"/>
              <a:t>• Business Win: Our real-time Spark streaming rules intercept attacks 24/7 within 5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64592" cy="1554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10728655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tlCol="0" anchor="ctr"/>
          <a:lstStyle/>
          <a:p>
            <a:pPr algn="ctr">
              <a:spcAft>
                <a:spcPts val="4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3. Money Mule Networks Unmasked by Neo4j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Criminals routed stolen money through 3+ intermediary 'mule' accounts to hide the trail.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Standard SQL tables missed this; Neo4j graph traversal caught 157 coordinated mule rings instantly.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Business Win: The bank can now freeze entire criminal networks rather than isolated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164592" cy="1554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11. CONCLUSION &amp; BUSINESS IMPACT</a:t>
            </a:r>
          </a:p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Project Conclusion: Value Delivered to NovaCrest 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Real-Time Fraud Prevention</a:t>
            </a:r>
          </a:p>
          <a:p>
            <a:pPr>
              <a:spcAft>
                <a:spcPts val="400"/>
              </a:spcAft>
              <a:defRPr sz="1100">
                <a:solidFill>
                  <a:srgbClr val="B91C1C"/>
                </a:solidFill>
                <a:latin typeface="Segoe UI"/>
              </a:defRPr>
            </a:pPr>
            <a:r>
              <a:t>Before: 24-hour batch delay; stolen funds settled and exited before alerts fired.</a:t>
            </a:r>
          </a:p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✔ Delivered: Sub-5-second Spark Streaming interception ($1.57B saved across 5,600 attacks).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17320"/>
            <a:ext cx="493776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Unified Customer 360 View</a:t>
            </a:r>
          </a:p>
          <a:p>
            <a:pPr>
              <a:spcAft>
                <a:spcPts val="400"/>
              </a:spcAft>
              <a:defRPr sz="1100">
                <a:solidFill>
                  <a:srgbClr val="B91C1C"/>
                </a:solidFill>
                <a:latin typeface="Segoe UI"/>
              </a:defRPr>
            </a:pPr>
            <a:r>
              <a:t>Before: Fragmented data silos; branch teams were blind to high-risk churn customers.</a:t>
            </a:r>
          </a:p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✔ Delivered: Single Power BI dashboard joining MongoDB KYC profiles, CLV, and risk scores.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417320"/>
            <a:ext cx="493776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3. Automated Regulatory Compliance</a:t>
            </a:r>
          </a:p>
          <a:p>
            <a:pPr>
              <a:spcAft>
                <a:spcPts val="400"/>
              </a:spcAft>
              <a:defRPr sz="1100">
                <a:solidFill>
                  <a:srgbClr val="B91C1C"/>
                </a:solidFill>
                <a:latin typeface="Segoe UI"/>
              </a:defRPr>
            </a:pPr>
            <a:r>
              <a:rPr dirty="0"/>
              <a:t>Before: 18 days of slow, manual SQL queries</a:t>
            </a:r>
            <a:r>
              <a:rPr lang="en-US" dirty="0"/>
              <a:t> for audits.</a:t>
            </a:r>
            <a:endParaRPr dirty="0"/>
          </a:p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rPr dirty="0"/>
              <a:t>✔ Delivered: Instant, pre-computed Hive compliance mart with zero-day audit delay.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840479"/>
            <a:ext cx="493776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4. Money Mule Network Traversal</a:t>
            </a:r>
          </a:p>
          <a:p>
            <a:pPr>
              <a:spcAft>
                <a:spcPts val="400"/>
              </a:spcAft>
              <a:defRPr sz="1100">
                <a:solidFill>
                  <a:srgbClr val="B91C1C"/>
                </a:solidFill>
                <a:latin typeface="Segoe UI"/>
              </a:defRPr>
            </a:pPr>
            <a:r>
              <a:t>Before: Traditional relational tables failed to detect cyclic laundering chains.</a:t>
            </a:r>
          </a:p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✔ Delivered: Neo4j graph traversal unmasked 157 multi-hop money mule laundering rings.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3840479"/>
            <a:ext cx="4937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bg_cus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5486400" cy="4754880"/>
          </a:xfrm>
          <a:prstGeom prst="roundRect">
            <a:avLst/>
          </a:prstGeom>
          <a:solidFill>
            <a:srgbClr val="14203A"/>
          </a:solidFill>
          <a:ln>
            <a:solidFill>
              <a:srgbClr val="1E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Summary of Measurable Outcomes</a:t>
            </a:r>
          </a:p>
          <a:p>
            <a:pPr>
              <a:spcAft>
                <a:spcPts val="1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$1.57 Billion Intercepted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rPr dirty="0"/>
              <a:t>Live Kafka + Spark Streaming caught fraudulent transfers before settlement.</a:t>
            </a:r>
          </a:p>
          <a:p>
            <a:pPr>
              <a:spcAft>
                <a:spcPts val="1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14.3% False Positive Rate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rPr dirty="0"/>
              <a:t>Multi-tier scoring cut false fraud flags down from an industry baseline of 62%.</a:t>
            </a:r>
          </a:p>
          <a:p>
            <a:pPr>
              <a:spcAft>
                <a:spcPts val="1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0-Day Audit Delays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rPr dirty="0"/>
              <a:t>Automated Spark SQL &amp; Power BI dashboards eliminated 18-day manual compliance delays.</a:t>
            </a:r>
          </a:p>
          <a:p>
            <a:pPr>
              <a:spcAft>
                <a:spcPts val="1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10 Enterprise Tools Unified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rPr dirty="0"/>
              <a:t>Kafka, Spark, Hadoop, Hive, Mongo, Neo4j, Alteryx, and Power BI in one seamless stack.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097280"/>
            <a:ext cx="4480560" cy="4754880"/>
          </a:xfrm>
          <a:prstGeom prst="roundRect">
            <a:avLst/>
          </a:prstGeom>
          <a:solidFill>
            <a:srgbClr val="14203A"/>
          </a:solidFill>
          <a:ln>
            <a:solidFill>
              <a:srgbClr val="1E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spcAft>
                <a:spcPts val="14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Thank You!</a:t>
            </a:r>
          </a:p>
          <a:p>
            <a:pPr algn="ctr">
              <a:spcAft>
                <a:spcPts val="2000"/>
              </a:spcAft>
              <a:defRPr sz="1500">
                <a:solidFill>
                  <a:srgbClr val="38BDF8"/>
                </a:solidFill>
                <a:latin typeface="Segoe UI"/>
              </a:defRPr>
            </a:pPr>
            <a:r>
              <a:rPr dirty="0" err="1"/>
              <a:t>FinSight</a:t>
            </a:r>
            <a:r>
              <a:rPr dirty="0"/>
              <a:t> Platform</a:t>
            </a:r>
            <a:br>
              <a:rPr dirty="0"/>
            </a:br>
            <a:r>
              <a:rPr dirty="0" err="1"/>
              <a:t>NovaCrest</a:t>
            </a:r>
            <a:r>
              <a:rPr dirty="0"/>
              <a:t> Bank Big Data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2326</Words>
  <Application>Microsoft Office PowerPoint</Application>
  <PresentationFormat>Widescreen</PresentationFormat>
  <Paragraphs>179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 yaseen</cp:lastModifiedBy>
  <cp:revision>9</cp:revision>
  <dcterms:created xsi:type="dcterms:W3CDTF">2013-01-27T09:14:16Z</dcterms:created>
  <dcterms:modified xsi:type="dcterms:W3CDTF">2026-09-16T08:32:46Z</dcterms:modified>
  <cp:category/>
</cp:coreProperties>
</file>